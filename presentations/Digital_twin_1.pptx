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10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13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❤️ DIGITAL TWIN ПАЦІЄНТА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ECEF"/>
                </a:solidFill>
              </a:rPr>
              <a:t>Готові рішення для практикуючих анестезіологів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БУС-18 | Майстер-клас NO-CODE | 90 хвилин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ECEF"/>
                </a:solidFill>
              </a:rPr>
              <a:t>Професор Мазур Андрій Петрович, д.мед.н.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8ECEF"/>
                </a:solidFill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❌ ТИПОВА СИТУАЦІЯ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2011680"/>
          </a:xfrm>
          <a:prstGeom prst="roundRect">
            <a:avLst/>
          </a:prstGeom>
          <a:solidFill>
            <a:srgbClr val="FFF4F4"/>
          </a:solidFill>
          <a:ln w="38100">
            <a:solidFill>
              <a:srgbClr val="E84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0" y="15544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D4852"/>
                </a:solidFill>
              </a:rPr>
              <a:t>Пацієнт М., 68 років, планове АКШ
</a:t>
            </a:r>
            <a:r>
              <a:rPr lang="en-US" sz="1400" dirty="0">
                <a:solidFill>
                  <a:srgbClr val="3D4852"/>
                </a:solidFill>
              </a:rPr>
              <a:t>EuroSCORE II: </a:t>
            </a:r>
            <a:r>
              <a:rPr lang="en-US" sz="1400" b="1" dirty="0">
                <a:solidFill>
                  <a:srgbClr val="22AA22"/>
                </a:solidFill>
              </a:rPr>
              <a:t>3.8%
</a:t>
            </a:r>
            <a:r>
              <a:rPr lang="en-US" sz="1400" dirty="0">
                <a:solidFill>
                  <a:srgbClr val="22AA22"/>
                </a:solidFill>
              </a:rPr>
              <a:t>Операція пройшла без ускладнень ✓
</a:t>
            </a:r>
            <a:r>
              <a:rPr lang="en-US" sz="1600" b="1" dirty="0">
                <a:solidFill>
                  <a:srgbClr val="3D4852"/>
                </a:solidFill>
              </a:rPr>
              <a:t>На 2-у добу: </a:t>
            </a:r>
            <a:r>
              <a:rPr lang="en-US" sz="1600" b="1" dirty="0">
                <a:solidFill>
                  <a:srgbClr val="E8423F"/>
                </a:solidFill>
              </a:rPr>
              <a:t>фібриляція передсердь ⚠️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23F"/>
                </a:solidFill>
              </a:rPr>
              <a:t>❓ Чому EuroSCORE це не передбачив?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852"/>
                </a:solidFill>
              </a:rPr>
              <a:t>30-40% ускладнень можна передбачити | EuroSCORE виявляє тільки 15-20%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✅ РІШЕННЯ: DIGITAL TWIN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4852"/>
                </a:solidFill>
              </a:rPr>
              <a:t>Традиційні шкали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1417320"/>
            <a:ext cx="4114800" cy="365760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0" y="1417320"/>
            <a:ext cx="617220" cy="365760"/>
          </a:xfrm>
          <a:prstGeom prst="rect">
            <a:avLst/>
          </a:prstGeom>
          <a:solidFill>
            <a:srgbClr val="DD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D4444"/>
                </a:solidFill>
              </a:rPr>
              <a:t>15-20%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4852"/>
                </a:solidFill>
              </a:rPr>
              <a:t>Digital Twin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0" y="2331720"/>
            <a:ext cx="4114800" cy="365760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0" y="2331720"/>
            <a:ext cx="3086100" cy="365760"/>
          </a:xfrm>
          <a:prstGeom prst="rect">
            <a:avLst/>
          </a:prstGeom>
          <a:solidFill>
            <a:srgbClr val="22A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22AA22"/>
                </a:solidFill>
              </a:rPr>
              <a:t>75-85%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7C"/>
                </a:solidFill>
              </a:rPr>
              <a:t>🎯 ЩО ДАЄ DIGITAL TWIN: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023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✓ Передбачає ускладнення з точністю 75-85%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343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✓ Дає конкретні рекомендації (не просто 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✓ Базується на 1000+ реальних пацієнтів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983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✓ Працює БЕЗ програмування - як Google Forms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🗺️ АНАЛОГІЯ: GPS ДЛЯ ПАЦІЄНТА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320040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DD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C0000"/>
                </a:solidFill>
              </a:rPr>
              <a:t>📄 ТРАДИЦІЙНІ ШКАЛИ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D4852"/>
                </a:solidFill>
              </a:rPr>
              <a:t>= Паперова карта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❌ Статичні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❌ Не враховують індивідуальність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❌ Точність 15-20%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❌ Тільки загальний прогноз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4114800" cy="320040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22A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00"/>
                </a:solidFill>
              </a:rPr>
              <a:t>🤖 DIGITAL TWIN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D4852"/>
                </a:solidFill>
              </a:rPr>
              <a:t>= GPS навігація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✅ Динамічні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✅ Персоналізовані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✅ Точність 75-85%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✅ Конкретні рекомендації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🚀 ЯК ЦЕ ПРАЦЮЄ? 3 КРОКИ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463040" y="1371600"/>
            <a:ext cx="640080" cy="640080"/>
          </a:xfrm>
          <a:prstGeom prst="ellipse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46304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📝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A4"/>
                </a:solidFill>
              </a:rPr>
              <a:t>ВВЕСТИ ДАНІ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</a:rPr>
              <a:t>Вік, ФВ, креатинін, супутні...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</a:rPr>
              <a:t>Як у звичайну форму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640080" cy="640080"/>
          </a:xfrm>
          <a:prstGeom prst="ellipse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0624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49040" y="2194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🖱️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7C"/>
                </a:solidFill>
              </a:rPr>
              <a:t>НАТИСНУТИ КНОПКУ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474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</a:rPr>
              <a:t>'Розрахувати ризики'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</a:rPr>
              <a:t>Жодного коду!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371600"/>
            <a:ext cx="640080" cy="640080"/>
          </a:xfrm>
          <a:prstGeom prst="ellipse">
            <a:avLst/>
          </a:prstGeom>
          <a:solidFill>
            <a:srgbClr val="22AA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2194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17920" y="3017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AA22"/>
                </a:solidFill>
              </a:rPr>
              <a:t>ОТРИМАТИ ПРОГНОЗ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34747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</a:rPr>
              <a:t>Ризики + рекомендації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D4852"/>
                </a:solidFill>
              </a:rPr>
              <a:t>За 3 секунди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💡 ПРОСТО ЯК GOOGLE FORMS - ЖОДНОГО ПРОГРАМУВАННЯ!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💻 ДЕМОНСТРАЦІЯ ПЛАТФОРМИ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32004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17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🌐 https://icu-digitaltwin.cloud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4852"/>
                </a:solidFill>
              </a:rPr>
              <a:t>👤 Дані пацієнта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Вік: [ 68 ] років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ФВ: [ 42 ] 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Креатинін: [ 125 ] мкмоль/л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3474720"/>
            <a:ext cx="2286000" cy="548640"/>
          </a:xfrm>
          <a:prstGeom prst="roundRect">
            <a:avLst/>
          </a:prstGeom>
          <a:solidFill>
            <a:srgbClr val="2C5F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Розрахувати ризики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017520" cy="137160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E84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852"/>
                </a:solidFill>
              </a:rPr>
              <a:t>📊 Прогноз: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0000"/>
                </a:solidFill>
              </a:rPr>
              <a:t>🔴 ФП: 78%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8800"/>
                </a:solidFill>
              </a:rPr>
              <a:t>🟡 AKI: 52%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A00"/>
                </a:solidFill>
              </a:rPr>
              <a:t>🟢 НСВ: 34%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23F"/>
                </a:solidFill>
              </a:rPr>
              <a:t>👆 Зараз ви самі спробуєте на своїх пристроях!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📱 ДОСТУП ДО ПЛАТФОРМИ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09728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5F7C"/>
                </a:solidFill>
              </a:rPr>
              <a:t>🌐 https://ваш-url.trycloudflare.com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ІНСТРУКЦІЯ: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1️⃣  Відкрийте браузер на вашому ноутбуці/планшеті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2️⃣  Введіть URL вище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3️⃣  Якщо не відкривається - піднесіть руку 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📋 КЕЙС #1: ПАЦІЄНТ ІВАНОВ С.П.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D4852"/>
                </a:solidFill>
              </a:rPr>
              <a:t>(Заповнюємо разом)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7C"/>
                </a:solidFill>
              </a:rPr>
              <a:t>👤 ДЕМОГРАФІЯ + ЛАБ: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Вік: 68 років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Вага: 82 кг | Зріст: 175 см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ФВ: 42%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Креатинін: 125 мкмоль/л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Гемоглобін: 138 г/л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Глюкоза: 8.2 ммоль/л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4114800" cy="3383280"/>
          </a:xfrm>
          <a:prstGeom prst="roundRect">
            <a:avLst/>
          </a:prstGeom>
          <a:solidFill>
            <a:srgbClr val="E8ECEF"/>
          </a:solidFill>
          <a:ln w="127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7C"/>
                </a:solidFill>
              </a:rPr>
              <a:t>🏥 СУПУТНІ + ОПЕРАЦІЯ: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☑  Цукровий діабет 2 типу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☑  Артеріальна гіпертензія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☑  ІХС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☑  ХХН стадія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852"/>
                </a:solidFill>
              </a:rPr>
              <a:t>Операція: АКШ x3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794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852"/>
                </a:solidFill>
              </a:rPr>
              <a:t>ШК: 90 хвилин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4297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852"/>
                </a:solidFill>
              </a:rPr>
              <a:t>EuroSCORE II: ~3.8%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📊 РЕЗУЛЬТАТИ: ПАЦІЄНТ ІВАНОВ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852"/>
                </a:solidFill>
              </a:rPr>
              <a:t>Фібриляція передсердь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0000"/>
                </a:solidFill>
              </a:rPr>
              <a:t>78%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0000"/>
                </a:solidFill>
              </a:rPr>
              <a:t>🔴 ВИСОКИЙ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852"/>
                </a:solidFill>
              </a:rPr>
              <a:t>Гостре пошкодження нирок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965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8800"/>
                </a:solidFill>
              </a:rPr>
              <a:t>52%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8800"/>
                </a:solidFill>
              </a:rPr>
              <a:t>🟡 ПОМІРНИЙ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852"/>
                </a:solidFill>
              </a:rPr>
              <a:t>Низький серцевий викид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8800"/>
                </a:solidFill>
              </a:rPr>
              <a:t>34%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D8800"/>
                </a:solidFill>
              </a:rPr>
              <a:t>🟡 ПОМІРНИЙ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852"/>
                </a:solidFill>
              </a:rPr>
              <a:t>Кровотеча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3154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A00"/>
                </a:solidFill>
              </a:rPr>
              <a:t>12%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43600" y="3154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A00"/>
                </a:solidFill>
              </a:rPr>
              <a:t>🟢 НИЗЬКИЙ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4852"/>
                </a:solidFill>
              </a:rPr>
              <a:t>Інсульт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A00"/>
                </a:solidFill>
              </a:rPr>
              <a:t>6%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A00"/>
                </a:solidFill>
              </a:rPr>
              <a:t>🟢 НИЗЬКИЙ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solidFill>
            <a:srgbClr val="E84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⚠️  ТОП-2 РИЗИКИ: Фібриляція передсердь (78%) + AKI (52%)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💊 РЕКОМЕНДАЦІЇ: ПРОФІЛАКТИКА ФП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D0000"/>
                </a:solidFill>
              </a:rPr>
              <a:t>(Ризик 78% - високий)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FF8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800"/>
                </a:solidFill>
              </a:rPr>
              <a:t>💊 МЕДИКАМЕНТОЗНА ПРОФІЛАКТИКА: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• Аміодарон 200 мг x2 за 24 год до операції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• Продовжити бета-блокатор до операції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914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A4"/>
                </a:solidFill>
              </a:rPr>
              <a:t>📊 МОНІТОРИНГ: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• ЕКГ моніторинг безперервний 72 години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• Контроль електролітів: K+ &gt;4.0, Mg2+ &gt;1.0 ммоль/л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64008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22A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A00"/>
                </a:solidFill>
              </a:rPr>
              <a:t>⚕️ ДОДАТКОВІ ЗАХОДИ: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• Уникати гіпотермії (&lt;36°C) • Адекватна аналгезія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</a:rPr>
              <a:t>📚 Базується на: ACC/AHA Guidelines 2023, EACTS Guidelines 2024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7C"/>
                </a:solidFill>
              </a:rPr>
              <a:t>✍️ КЕЙС #2: САМОСТІЙНА РОБОТА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D4852"/>
                </a:solidFill>
              </a:rPr>
              <a:t>(15 хвилин - індивідуально)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8800"/>
                </a:solidFill>
              </a:rPr>
              <a:t>📋 ЗАВДАННЯ: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1. Дані пацієнтки в роздруківці (дивіться на стіл)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2. Введіть дані в систему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3. Натисніть 'Розрахувати ризики'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154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4. Запишіть ТОП-3 ризики в роздруківку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5. Прочитайте рекомендації для ризику #1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F8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⏱️ 15 ХВИЛИН | Піднесіть руку ✋ якщо потрібна допомога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</a:rPr>
              <a:t>💡 Підказка: Пацієнтка Петренко Л.В., 73 роки, заміна клапана, ФВ 38%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7C"/>
                </a:solidFill>
              </a:rPr>
              <a:t>🏥 ВПРОВАДЖЕННЯ У ВАШОМУ ВІДДІЛЕННІ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9728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22A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AA22"/>
                </a:solidFill>
              </a:rPr>
              <a:t>РІВЕНЬ 1: ОСОБИСТИЙ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Можна почати з понеділка! 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✓ Тільки ви використовуєте  ✓ Для складних пацієнтів  ✓ 5-7 хвилин на пацієнта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09728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A4"/>
                </a:solidFill>
              </a:rPr>
              <a:t>РІВЕНЬ 2: КОМАНДНИЙ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Через 1-2 місяці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Ви + 2-3 колеги  • На передопераційній конференції  • Обговорення прогнозів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09728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FF8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800"/>
                </a:solidFill>
              </a:rPr>
              <a:t>РІВЕНЬ 3: ВІДДІЛЕННЯ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Через 3-6 місяців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Інтеграція з EMR  • Автозавантаження даних  • Потрібен IT-спеціаліст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</a:rPr>
              <a:t>📅 Тиждень 1-2: Тестуєте • Місяць 1: Навчаєте колег • Місяць 3: Пілот 20-30 пацієнтів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423F"/>
                </a:solidFill>
              </a:rPr>
              <a:t>⚠️ ВАЖЛИВІ ОБМЕЖЕННЯ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2286000"/>
          </a:xfrm>
          <a:prstGeom prst="roundRect">
            <a:avLst/>
          </a:prstGeom>
          <a:solidFill>
            <a:srgbClr val="FFF4F4"/>
          </a:solidFill>
          <a:ln w="25400">
            <a:solidFill>
              <a:srgbClr val="E842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23F"/>
                </a:solidFill>
              </a:rPr>
              <a:t>❌ AI НЕ Є: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✗ Медичним обладнанням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✗ Заміною лікаря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✗ 100% точним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✗ Вирішальним фактором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0" y="1371600"/>
            <a:ext cx="4114800" cy="2286000"/>
          </a:xfrm>
          <a:prstGeom prst="roundRect">
            <a:avLst/>
          </a:prstGeom>
          <a:solidFill>
            <a:srgbClr val="F0FFF4"/>
          </a:solidFill>
          <a:ln w="25400">
            <a:solidFill>
              <a:srgbClr val="22A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AA22"/>
                </a:solidFill>
              </a:rPr>
              <a:t>✅ AI Є: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✓ Інструментом допомоги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✓ Підказкою на що звернути увагу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✓ Базою на 1000 пацієнтів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852"/>
                </a:solidFill>
              </a:rPr>
              <a:t>✓ Додатковим джерелом інформації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1188720"/>
          </a:xfrm>
          <a:prstGeom prst="rect">
            <a:avLst/>
          </a:prstGeom>
          <a:solidFill>
            <a:srgbClr val="E8EC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7C"/>
                </a:solidFill>
              </a:rPr>
              <a:t>⚖️ ЕТИКА ТА ВІДПОВІДАЛЬНІСТЬ: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Відповідальність завжди на лікарі, не на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5994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Документувати використання у медкарті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85546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При сумнівах - консультація з колегами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51114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852"/>
                </a:solidFill>
              </a:rPr>
              <a:t>• Клінічне мислення &gt; AI прогноз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🎓 ЩО ВИ НАВЧИЛИСЯ СЬОГОДНІ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✅ Розумієте концепцію Digital Twin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✅ Вмієте використовувати веб-платформу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✅ Інтерпретуєте ML прогнози (🔴🟡🟢)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✅ Знаєте як застосувати рекомендації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✅ Маєте доступ до платформи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7315200" cy="640080"/>
          </a:xfrm>
          <a:prstGeom prst="roundRect">
            <a:avLst/>
          </a:prstGeom>
          <a:solidFill>
            <a:srgbClr val="4A90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📦 ОТРИМАЄТЕ: URL + PDF кейси + Відео + Telegram-група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🚀 DIGITAL TWIN -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8ECEF"/>
                </a:solidFill>
              </a:rPr>
              <a:t>ЦЕ НЕ ФАНТАСТИКА,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ЦЕ РЕАЛЬНІСТЬ!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ECEF"/>
                </a:solidFill>
              </a:rPr>
              <a:t>Ви вже використали його сьогодні ✓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4114800"/>
            <a:ext cx="6400800" cy="822960"/>
          </a:xfrm>
          <a:prstGeom prst="roundRect">
            <a:avLst/>
          </a:prstGeom>
          <a:solidFill>
            <a:srgbClr val="E842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 не замінить вас,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але лікар з AI замінить лікаря без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ДЯКУЮ ЗА УВАГУ!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ECEF"/>
                </a:solidFill>
              </a:rPr>
              <a:t>Успіхів у практиці! 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Професор Мазур А.П. | БУС-18,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883</Words>
  <Application>Microsoft Office PowerPoint</Application>
  <PresentationFormat>Широкий екран</PresentationFormat>
  <Paragraphs>180</Paragraphs>
  <Slides>15</Slides>
  <Notes>15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для анестезіологів</dc:title>
  <dc:subject>Digital Twin - Майстер-клас</dc:subject>
  <dc:creator>Професор Мазур А.П.</dc:creator>
  <cp:lastModifiedBy>Andriy Mazur</cp:lastModifiedBy>
  <cp:revision>2</cp:revision>
  <dcterms:created xsi:type="dcterms:W3CDTF">2026-03-07T17:24:47Z</dcterms:created>
  <dcterms:modified xsi:type="dcterms:W3CDTF">2026-03-15T16:50:33Z</dcterms:modified>
</cp:coreProperties>
</file>